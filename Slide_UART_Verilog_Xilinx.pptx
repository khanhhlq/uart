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3" r:id="rId2"/>
    <p:sldId id="27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2" r:id="rId13"/>
    <p:sldId id="275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60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9260C8-F609-AE11-1F51-FB9F6158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"/>
            <a:ext cx="12199063" cy="685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3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0">
            <a:extLst>
              <a:ext uri="{FF2B5EF4-FFF2-40B4-BE49-F238E27FC236}">
                <a16:creationId xmlns:a16="http://schemas.microsoft.com/office/drawing/2014/main" id="{8DA2820C-54E5-5294-0B49-69B45552FC6A}"/>
              </a:ext>
            </a:extLst>
          </p:cNvPr>
          <p:cNvSpPr/>
          <p:nvPr/>
        </p:nvSpPr>
        <p:spPr>
          <a:xfrm>
            <a:off x="839622" y="1759637"/>
            <a:ext cx="3448268" cy="553912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FFFFFF"/>
                </a:solidFill>
              </a:rPr>
              <a:t>Họ và Tên</a:t>
            </a:r>
            <a:endParaRPr lang="en-US" sz="1600" dirty="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D72548F3-5501-CE3F-A72C-E0C77B87DD95}"/>
              </a:ext>
            </a:extLst>
          </p:cNvPr>
          <p:cNvSpPr/>
          <p:nvPr/>
        </p:nvSpPr>
        <p:spPr>
          <a:xfrm>
            <a:off x="4446510" y="1759637"/>
            <a:ext cx="3448268" cy="553912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sz="1600" b="1" dirty="0">
                <a:solidFill>
                  <a:schemeClr val="bg1"/>
                </a:solidFill>
                <a:cs typeface="Times New Roman" panose="02020603050405020304" pitchFamily="18" charset="0"/>
              </a:rPr>
              <a:t>MSSV</a:t>
            </a:r>
            <a:endParaRPr lang="en-US" sz="16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E8D11580-E6AF-B53E-18C1-2742E83D2471}"/>
              </a:ext>
            </a:extLst>
          </p:cNvPr>
          <p:cNvSpPr/>
          <p:nvPr/>
        </p:nvSpPr>
        <p:spPr>
          <a:xfrm>
            <a:off x="8053398" y="1759637"/>
            <a:ext cx="3448268" cy="553912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FFFFFF"/>
                </a:solidFill>
                <a:cs typeface="Times New Roman" panose="02020603050405020304" pitchFamily="18" charset="0"/>
              </a:rPr>
              <a:t>Nhiệm Vụ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EFBA5C38-269D-7D26-1943-FB85DA2EDD7E}"/>
              </a:ext>
            </a:extLst>
          </p:cNvPr>
          <p:cNvSpPr/>
          <p:nvPr/>
        </p:nvSpPr>
        <p:spPr>
          <a:xfrm>
            <a:off x="839622" y="2394119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22033"/>
                </a:solidFill>
                <a:cs typeface="Times New Roman" panose="02020603050405020304" pitchFamily="18" charset="0"/>
              </a:rPr>
              <a:t>Nguyễn Mai Trung Dũng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61BEF5A3-E3C8-1851-59EE-5B25C8CBBD0A}"/>
              </a:ext>
            </a:extLst>
          </p:cNvPr>
          <p:cNvSpPr/>
          <p:nvPr/>
        </p:nvSpPr>
        <p:spPr>
          <a:xfrm>
            <a:off x="4440290" y="2394119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22033"/>
                </a:solidFill>
                <a:cs typeface="Times New Roman" panose="02020603050405020304" pitchFamily="18" charset="0"/>
              </a:rPr>
              <a:t>24161206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CEF2B73-EFE3-BA9B-B151-0EAF79E6D42A}"/>
              </a:ext>
            </a:extLst>
          </p:cNvPr>
          <p:cNvSpPr/>
          <p:nvPr/>
        </p:nvSpPr>
        <p:spPr>
          <a:xfrm>
            <a:off x="8053398" y="2394119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dirty="0" err="1">
                <a:cs typeface="Times New Roman" panose="02020603050405020304" pitchFamily="18" charset="0"/>
              </a:rPr>
              <a:t>Mở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đầu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và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cơ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sở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lý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thuyết</a:t>
            </a:r>
            <a:r>
              <a:rPr lang="en-US" dirty="0">
                <a:cs typeface="Times New Roman" panose="02020603050405020304" pitchFamily="18" charset="0"/>
              </a:rPr>
              <a:t> UART</a:t>
            </a:r>
            <a:endParaRPr lang="en-US" sz="1020" dirty="0">
              <a:cs typeface="Times New Roman" panose="02020603050405020304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7828F67-4BCA-354D-6B2C-E9881FEB81AA}"/>
              </a:ext>
            </a:extLst>
          </p:cNvPr>
          <p:cNvSpPr/>
          <p:nvPr/>
        </p:nvSpPr>
        <p:spPr>
          <a:xfrm>
            <a:off x="839622" y="3028601"/>
            <a:ext cx="3448268" cy="652848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cs typeface="Times New Roman" panose="02020603050405020304" pitchFamily="18" charset="0"/>
              </a:rPr>
              <a:t>Nguyễn Hữu Đức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F41CB963-1C46-7F47-000F-4878B4BD0A70}"/>
              </a:ext>
            </a:extLst>
          </p:cNvPr>
          <p:cNvSpPr/>
          <p:nvPr/>
        </p:nvSpPr>
        <p:spPr>
          <a:xfrm>
            <a:off x="4440290" y="3028601"/>
            <a:ext cx="3448268" cy="652848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22033"/>
                </a:solidFill>
                <a:cs typeface="Times New Roman" panose="02020603050405020304" pitchFamily="18" charset="0"/>
              </a:rPr>
              <a:t>24161221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FF79E2EA-C5E5-CE0C-DAB3-6407DF5DB8E8}"/>
              </a:ext>
            </a:extLst>
          </p:cNvPr>
          <p:cNvSpPr/>
          <p:nvPr/>
        </p:nvSpPr>
        <p:spPr>
          <a:xfrm>
            <a:off x="8053398" y="3028601"/>
            <a:ext cx="3448268" cy="652848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Baud rate, parity </a:t>
            </a:r>
            <a:r>
              <a:rPr lang="en-US" dirty="0" err="1">
                <a:cs typeface="Times New Roman" panose="02020603050405020304" pitchFamily="18" charset="0"/>
              </a:rPr>
              <a:t>và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nguyên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lý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endParaRPr lang="vi-VN" dirty="0"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cs typeface="Times New Roman" panose="02020603050405020304" pitchFamily="18" charset="0"/>
              </a:rPr>
              <a:t>đồng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bộ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thời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gian</a:t>
            </a:r>
            <a:endParaRPr lang="en-US" sz="1020" dirty="0">
              <a:cs typeface="Times New Roman" panose="02020603050405020304" pitchFamily="18" charset="0"/>
            </a:endParaRP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48EF79B6-416E-15FA-F6F6-776D3DFDE97B}"/>
              </a:ext>
            </a:extLst>
          </p:cNvPr>
          <p:cNvSpPr/>
          <p:nvPr/>
        </p:nvSpPr>
        <p:spPr>
          <a:xfrm>
            <a:off x="845842" y="3762019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cs typeface="Times New Roman" panose="02020603050405020304" pitchFamily="18" charset="0"/>
              </a:rPr>
              <a:t>Lê Minh Hải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DCC3F1A-991D-4406-EC0C-DEBC73A730FC}"/>
              </a:ext>
            </a:extLst>
          </p:cNvPr>
          <p:cNvSpPr/>
          <p:nvPr/>
        </p:nvSpPr>
        <p:spPr>
          <a:xfrm>
            <a:off x="4446510" y="3762019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22033"/>
                </a:solidFill>
                <a:cs typeface="Times New Roman" panose="02020603050405020304" pitchFamily="18" charset="0"/>
              </a:rPr>
              <a:t>241612254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25405113-0376-4243-9463-25BFA865116E}"/>
              </a:ext>
            </a:extLst>
          </p:cNvPr>
          <p:cNvSpPr/>
          <p:nvPr/>
        </p:nvSpPr>
        <p:spPr>
          <a:xfrm>
            <a:off x="8059618" y="3762019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dirty="0" err="1">
                <a:cs typeface="Times New Roman" panose="02020603050405020304" pitchFamily="18" charset="0"/>
              </a:rPr>
              <a:t>Thiết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kế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hệ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thống</a:t>
            </a:r>
            <a:r>
              <a:rPr lang="en-US" dirty="0">
                <a:cs typeface="Times New Roman" panose="02020603050405020304" pitchFamily="18" charset="0"/>
              </a:rPr>
              <a:t> UART</a:t>
            </a:r>
            <a:endParaRPr lang="vi-VN" dirty="0"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bằng</a:t>
            </a:r>
            <a:r>
              <a:rPr lang="en-US" dirty="0">
                <a:cs typeface="Times New Roman" panose="02020603050405020304" pitchFamily="18" charset="0"/>
              </a:rPr>
              <a:t> Verilog</a:t>
            </a:r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0B15FC1F-58C1-62F1-8350-DD19D2F4EB4C}"/>
              </a:ext>
            </a:extLst>
          </p:cNvPr>
          <p:cNvSpPr/>
          <p:nvPr/>
        </p:nvSpPr>
        <p:spPr>
          <a:xfrm>
            <a:off x="845842" y="4396501"/>
            <a:ext cx="3448268" cy="553912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cs typeface="Times New Roman" panose="02020603050405020304" pitchFamily="18" charset="0"/>
              </a:rPr>
              <a:t>Lê Quốc Khánh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AAEB06B7-D5C9-2F76-82F4-D6C0D95B67A6}"/>
              </a:ext>
            </a:extLst>
          </p:cNvPr>
          <p:cNvSpPr/>
          <p:nvPr/>
        </p:nvSpPr>
        <p:spPr>
          <a:xfrm>
            <a:off x="4446510" y="4396501"/>
            <a:ext cx="3448268" cy="553912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22033"/>
                </a:solidFill>
                <a:cs typeface="Times New Roman" panose="02020603050405020304" pitchFamily="18" charset="0"/>
              </a:rPr>
              <a:t>24161276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18CDFC47-122A-1837-0265-95813F3186E7}"/>
              </a:ext>
            </a:extLst>
          </p:cNvPr>
          <p:cNvSpPr/>
          <p:nvPr/>
        </p:nvSpPr>
        <p:spPr>
          <a:xfrm>
            <a:off x="8059618" y="4396501"/>
            <a:ext cx="3448268" cy="553912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dirty="0" err="1">
                <a:cs typeface="Times New Roman" panose="02020603050405020304" pitchFamily="18" charset="0"/>
              </a:rPr>
              <a:t>Mô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phỏng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trên</a:t>
            </a:r>
            <a:r>
              <a:rPr lang="en-US" dirty="0">
                <a:cs typeface="Times New Roman" panose="02020603050405020304" pitchFamily="18" charset="0"/>
              </a:rPr>
              <a:t> Xilinx/</a:t>
            </a:r>
            <a:r>
              <a:rPr lang="en-US" dirty="0" err="1">
                <a:cs typeface="Times New Roman" panose="02020603050405020304" pitchFamily="18" charset="0"/>
              </a:rPr>
              <a:t>Vivado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và</a:t>
            </a:r>
            <a:r>
              <a:rPr lang="en-US" dirty="0">
                <a:cs typeface="Times New Roman" panose="02020603050405020304" pitchFamily="18" charset="0"/>
              </a:rPr>
              <a:t> testcase</a:t>
            </a: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E96982B7-941B-C3FB-511C-8000D9B60A17}"/>
              </a:ext>
            </a:extLst>
          </p:cNvPr>
          <p:cNvSpPr/>
          <p:nvPr/>
        </p:nvSpPr>
        <p:spPr>
          <a:xfrm>
            <a:off x="845842" y="5030983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cs typeface="Times New Roman" panose="02020603050405020304" pitchFamily="18" charset="0"/>
              </a:rPr>
              <a:t>Đặng Quang Được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9451ADA7-B73A-F4D6-4239-ED8A9DD389F4}"/>
              </a:ext>
            </a:extLst>
          </p:cNvPr>
          <p:cNvSpPr/>
          <p:nvPr/>
        </p:nvSpPr>
        <p:spPr>
          <a:xfrm>
            <a:off x="4446510" y="5030983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22033"/>
                </a:solidFill>
                <a:cs typeface="Times New Roman" panose="02020603050405020304" pitchFamily="18" charset="0"/>
              </a:rPr>
              <a:t>24161217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920F0CAE-9358-6731-ACDD-434A932C4D5F}"/>
              </a:ext>
            </a:extLst>
          </p:cNvPr>
          <p:cNvSpPr/>
          <p:nvPr/>
        </p:nvSpPr>
        <p:spPr>
          <a:xfrm>
            <a:off x="8059618" y="5030983"/>
            <a:ext cx="3448268" cy="553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dirty="0" err="1">
                <a:cs typeface="Times New Roman" panose="02020603050405020304" pitchFamily="18" charset="0"/>
              </a:rPr>
              <a:t>Phân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tích</a:t>
            </a:r>
            <a:r>
              <a:rPr lang="en-US" dirty="0">
                <a:cs typeface="Times New Roman" panose="02020603050405020304" pitchFamily="18" charset="0"/>
              </a:rPr>
              <a:t> waveform, </a:t>
            </a:r>
            <a:r>
              <a:rPr lang="en-US" dirty="0" err="1">
                <a:cs typeface="Times New Roman" panose="02020603050405020304" pitchFamily="18" charset="0"/>
              </a:rPr>
              <a:t>kết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quả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và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endParaRPr lang="vi-VN" dirty="0"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cs typeface="Times New Roman" panose="02020603050405020304" pitchFamily="18" charset="0"/>
              </a:rPr>
              <a:t>kết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luận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166838CE-7B4E-6489-E15C-6049D8704582}"/>
              </a:ext>
            </a:extLst>
          </p:cNvPr>
          <p:cNvSpPr/>
          <p:nvPr/>
        </p:nvSpPr>
        <p:spPr>
          <a:xfrm>
            <a:off x="0" y="433754"/>
            <a:ext cx="12192000" cy="74235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6" name="Picture 5" descr="Auth platform">
            <a:extLst>
              <a:ext uri="{FF2B5EF4-FFF2-40B4-BE49-F238E27FC236}">
                <a16:creationId xmlns:a16="http://schemas.microsoft.com/office/drawing/2014/main" id="{24141A72-7EB0-83D1-5C97-9E158D78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700"/>
          <a:stretch>
            <a:fillRect/>
          </a:stretch>
        </p:blipFill>
        <p:spPr>
          <a:xfrm>
            <a:off x="372887" y="106070"/>
            <a:ext cx="950212" cy="954455"/>
          </a:xfrm>
          <a:prstGeom prst="rect">
            <a:avLst/>
          </a:prstGeom>
        </p:spPr>
      </p:pic>
      <p:pic>
        <p:nvPicPr>
          <p:cNvPr id="60" name="Picture 59" descr="Auth platform">
            <a:extLst>
              <a:ext uri="{FF2B5EF4-FFF2-40B4-BE49-F238E27FC236}">
                <a16:creationId xmlns:a16="http://schemas.microsoft.com/office/drawing/2014/main" id="{1B859D80-D877-AA1C-0B0D-E92083C3E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593" b="1"/>
          <a:stretch>
            <a:fillRect/>
          </a:stretch>
        </p:blipFill>
        <p:spPr>
          <a:xfrm>
            <a:off x="10547555" y="629920"/>
            <a:ext cx="1271558" cy="328676"/>
          </a:xfrm>
          <a:prstGeom prst="rect">
            <a:avLst/>
          </a:prstGeom>
        </p:spPr>
      </p:pic>
      <p:sp>
        <p:nvSpPr>
          <p:cNvPr id="61" name="Trapezoid 60">
            <a:extLst>
              <a:ext uri="{FF2B5EF4-FFF2-40B4-BE49-F238E27FC236}">
                <a16:creationId xmlns:a16="http://schemas.microsoft.com/office/drawing/2014/main" id="{434AA3E6-1FED-CB31-ED26-D4F81A46CF86}"/>
              </a:ext>
            </a:extLst>
          </p:cNvPr>
          <p:cNvSpPr/>
          <p:nvPr/>
        </p:nvSpPr>
        <p:spPr>
          <a:xfrm rot="10800000">
            <a:off x="2249245" y="230597"/>
            <a:ext cx="7693510" cy="1141777"/>
          </a:xfrm>
          <a:prstGeom prst="trapezoid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C0C32E-9956-304B-15F5-B28F75EAD1FD}"/>
              </a:ext>
            </a:extLst>
          </p:cNvPr>
          <p:cNvSpPr txBox="1"/>
          <p:nvPr/>
        </p:nvSpPr>
        <p:spPr>
          <a:xfrm>
            <a:off x="2361804" y="443164"/>
            <a:ext cx="746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b="1" dirty="0">
                <a:solidFill>
                  <a:schemeClr val="bg1"/>
                </a:solidFill>
                <a:cs typeface="Times New Roman" panose="02020603050405020304" pitchFamily="18" charset="0"/>
              </a:rPr>
              <a:t>BẢNG PHÂN CÔNG NHIỆM VỤ</a:t>
            </a:r>
            <a:endParaRPr lang="en-US" sz="36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7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1005840" cy="2926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A2F"/>
                </a:solidFill>
              </a:rPr>
              <a:t>TOPIC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</a:rPr>
              <a:t>UART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DEFFF"/>
                </a:solidFill>
              </a:rPr>
              <a:t>Thiết kế &amp; mô phỏng bằng Verilog trên Xilinx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7DF"/>
                </a:solidFill>
              </a:rPr>
              <a:t>Dựa trên mã nguồn GitHub: MuhammadMajiid/UART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FC7DF"/>
                </a:solidFill>
              </a:rPr>
              <a:t>Mô hình trình bày: Full Duplex UART + waveform từng testcase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V="1">
            <a:off x="7818120" y="4249080"/>
            <a:ext cx="2069254" cy="0"/>
          </a:xfrm>
          <a:prstGeom prst="line">
            <a:avLst/>
          </a:prstGeom>
          <a:noFill/>
          <a:ln w="38100">
            <a:solidFill>
              <a:srgbClr val="00C2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6001173" y="3648456"/>
            <a:ext cx="1816947" cy="1286933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TX</a:t>
            </a:r>
            <a:endParaRPr lang="en-US"/>
          </a:p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Parallel → Serial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87373" y="3648456"/>
            <a:ext cx="1816947" cy="1286933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RX</a:t>
            </a:r>
            <a:endParaRPr lang="en-US"/>
          </a:p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Serial → Parallel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03907" y="5311479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857"/>
                </a:solidFill>
              </a:rPr>
              <a:t>Start | Data[7:0] | Parity | Stop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Lộ trình thuyết trình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797A6"/>
                </a:solidFill>
              </a:rPr>
              <a:t>Từ cơ sở lý thuyết đến mô phỏng waveform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19" y="1143000"/>
            <a:ext cx="4001347" cy="9144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02920" cy="411480"/>
          </a:xfrm>
          <a:prstGeom prst="rect">
            <a:avLst/>
          </a:prstGeom>
          <a:solidFill>
            <a:srgbClr val="2E86DE"/>
          </a:solidFill>
          <a:ln>
            <a:solidFill>
              <a:srgbClr val="2E86D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4904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F"/>
                </a:solidFill>
              </a:rPr>
              <a:t>Cơ sở lý thuyết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17904" y="189280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797A6"/>
                </a:solidFill>
              </a:rPr>
              <a:t>UART, frame 8-bit, baud rate, parity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1947672"/>
            <a:ext cx="0" cy="420624"/>
          </a:xfrm>
          <a:prstGeom prst="line">
            <a:avLst/>
          </a:prstGeom>
          <a:noFill/>
          <a:ln w="1524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502920" cy="411480"/>
          </a:xfrm>
          <a:prstGeom prst="rect">
            <a:avLst/>
          </a:prstGeom>
          <a:solidFill>
            <a:srgbClr val="2E86DE"/>
          </a:solidFill>
          <a:ln>
            <a:solidFill>
              <a:srgbClr val="2E86D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2359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F"/>
                </a:solidFill>
              </a:rPr>
              <a:t>Thiết kế hệ thống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17904" y="276148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797A6"/>
                </a:solidFill>
              </a:rPr>
              <a:t>Full Duplex: TxUnit + RxUnit + dây serial nội bộ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8992" y="2816352"/>
            <a:ext cx="0" cy="420624"/>
          </a:xfrm>
          <a:prstGeom prst="line">
            <a:avLst/>
          </a:prstGeom>
          <a:noFill/>
          <a:ln w="1524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502920" cy="411480"/>
          </a:xfrm>
          <a:prstGeom prst="rect">
            <a:avLst/>
          </a:prstGeom>
          <a:solidFill>
            <a:srgbClr val="2E86DE"/>
          </a:solidFill>
          <a:ln>
            <a:solidFill>
              <a:srgbClr val="2E86D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2278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F"/>
                </a:solidFill>
              </a:rPr>
              <a:t>Mô phỏng Xilinx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17904" y="363016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797A6"/>
                </a:solidFill>
              </a:rPr>
              <a:t>Add source, set top, chạy behavioral simulation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8992" y="3685032"/>
            <a:ext cx="0" cy="420624"/>
          </a:xfrm>
          <a:prstGeom prst="line">
            <a:avLst/>
          </a:prstGeom>
          <a:noFill/>
          <a:ln w="1524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502920" cy="411480"/>
          </a:xfrm>
          <a:prstGeom prst="rect">
            <a:avLst/>
          </a:prstGeom>
          <a:solidFill>
            <a:srgbClr val="2E86DE"/>
          </a:solidFill>
          <a:ln>
            <a:solidFill>
              <a:srgbClr val="2E86D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40965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F"/>
                </a:solidFill>
              </a:rPr>
              <a:t>Testcase &amp; waveform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17904" y="449884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797A6"/>
                </a:solidFill>
              </a:rPr>
              <a:t>Tóm tắt testbench, kết quả từng testcase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8992" y="4553712"/>
            <a:ext cx="0" cy="420624"/>
          </a:xfrm>
          <a:prstGeom prst="line">
            <a:avLst/>
          </a:prstGeom>
          <a:noFill/>
          <a:ln w="1524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502920" cy="411480"/>
          </a:xfrm>
          <a:prstGeom prst="rect">
            <a:avLst/>
          </a:prstGeom>
          <a:solidFill>
            <a:srgbClr val="2E86DE"/>
          </a:solidFill>
          <a:ln>
            <a:solidFill>
              <a:srgbClr val="2E86D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08760" y="4965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F"/>
                </a:solidFill>
              </a:rPr>
              <a:t>Kết luận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517904" y="536752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797A6"/>
                </a:solidFill>
              </a:rPr>
              <a:t>Đánh giá, lỗi kiểm tra, hướng mở rộng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8992" y="5422392"/>
            <a:ext cx="0" cy="0"/>
          </a:xfrm>
          <a:prstGeom prst="line">
            <a:avLst/>
          </a:prstGeom>
          <a:noFill/>
          <a:ln w="1524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142146" y="2000165"/>
            <a:ext cx="3970862" cy="2871216"/>
          </a:xfrm>
          <a:prstGeom prst="rect">
            <a:avLst/>
          </a:prstGeom>
          <a:solidFill>
            <a:srgbClr val="EAF7F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A2F"/>
                </a:solidFill>
              </a:rPr>
              <a:t>Mục tiêu cuối cùng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71A2F"/>
                </a:solidFill>
              </a:rPr>
              <a:t>data_in = data_out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71A2F"/>
                </a:solidFill>
              </a:rPr>
              <a:t>error_flag = 000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Cơ sở lý thuyết UART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D7F0"/>
                </a:solidFill>
              </a:rPr>
              <a:t>Universal Asynchronous Receiver/Transmitter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19" y="1143000"/>
            <a:ext cx="3798147" cy="18288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754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C2FF"/>
                </a:solidFill>
              </a:rPr>
              <a:t>• </a:t>
            </a:r>
            <a:r>
              <a:rPr lang="en-US" dirty="0">
                <a:solidFill>
                  <a:srgbClr val="FFFFFF"/>
                </a:solidFill>
              </a:rPr>
              <a:t>UART là mạch truyền/nhận dữ liệu nối tiếp bất đồng bộ.
</a:t>
            </a:r>
            <a:r>
              <a:rPr lang="en-US" b="1" dirty="0">
                <a:solidFill>
                  <a:srgbClr val="00C2FF"/>
                </a:solidFill>
              </a:rPr>
              <a:t>• </a:t>
            </a:r>
            <a:r>
              <a:rPr lang="en-US" dirty="0">
                <a:solidFill>
                  <a:srgbClr val="FFFFFF"/>
                </a:solidFill>
              </a:rPr>
              <a:t>Hai đường chính: TX gửi dữ liệu, RX nhận dữ liệu.
</a:t>
            </a:r>
            <a:r>
              <a:rPr lang="en-US" b="1" dirty="0">
                <a:solidFill>
                  <a:srgbClr val="00C2FF"/>
                </a:solidFill>
              </a:rPr>
              <a:t>• </a:t>
            </a:r>
            <a:r>
              <a:rPr lang="en-US" dirty="0">
                <a:solidFill>
                  <a:srgbClr val="FFFFFF"/>
                </a:solidFill>
              </a:rPr>
              <a:t>Không truyền clock riêng; hai phía phải thống nhất baud rate.
</a:t>
            </a:r>
            <a:r>
              <a:rPr lang="en-US" b="1" dirty="0">
                <a:solidFill>
                  <a:srgbClr val="00C2FF"/>
                </a:solidFill>
              </a:rPr>
              <a:t>• </a:t>
            </a:r>
            <a:r>
              <a:rPr lang="en-US" dirty="0">
                <a:solidFill>
                  <a:srgbClr val="FFFFFF"/>
                </a:solidFill>
              </a:rPr>
              <a:t>Dữ liệu song song 8-bit được đóng gói thành frame nối tiếp.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7D7F0"/>
                </a:solidFill>
              </a:rPr>
              <a:t>Parallel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1828800" cy="640080"/>
          </a:xfrm>
          <a:prstGeom prst="rect">
            <a:avLst/>
          </a:prstGeom>
          <a:solidFill>
            <a:srgbClr val="102E50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10101010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412480" y="1920240"/>
            <a:ext cx="14630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0" y="1508760"/>
            <a:ext cx="1417320" cy="777240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UART TX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0" y="3200400"/>
            <a:ext cx="356616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3502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C857"/>
                </a:solidFill>
              </a:rPr>
              <a:t>Serial line: từng bit đi lần lượt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5667" y="4599432"/>
            <a:ext cx="3794760" cy="1097280"/>
          </a:xfrm>
          <a:prstGeom prst="rect">
            <a:avLst/>
          </a:prstGeom>
          <a:solidFill>
            <a:srgbClr val="09233F"/>
          </a:solidFill>
          <a:ln w="15240">
            <a:solidFill>
              <a:srgbClr val="24476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Ứng dụng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FPGA ↔ PC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MCU ↔ Sensor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Board Debug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99107" y="4599432"/>
            <a:ext cx="4846320" cy="1097280"/>
          </a:xfrm>
          <a:prstGeom prst="rect">
            <a:avLst/>
          </a:prstGeom>
          <a:solidFill>
            <a:srgbClr val="09233F"/>
          </a:solidFill>
          <a:ln w="15240">
            <a:solidFill>
              <a:srgbClr val="244765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Đặc trưng</a:t>
            </a:r>
            <a:endParaRPr lang="en-US" sz="17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700" b="1" dirty="0" err="1">
                <a:solidFill>
                  <a:srgbClr val="FFFFFF"/>
                </a:solidFill>
              </a:rPr>
              <a:t>Đơn</a:t>
            </a:r>
            <a:r>
              <a:rPr lang="en-US" sz="1700" b="1" dirty="0">
                <a:solidFill>
                  <a:srgbClr val="FFFFFF"/>
                </a:solidFill>
              </a:rPr>
              <a:t> </a:t>
            </a:r>
            <a:r>
              <a:rPr lang="en-US" sz="1700" b="1" dirty="0" err="1">
                <a:solidFill>
                  <a:srgbClr val="FFFFFF"/>
                </a:solidFill>
              </a:rPr>
              <a:t>giản</a:t>
            </a:r>
            <a:r>
              <a:rPr lang="en-US" sz="1700" b="1" dirty="0">
                <a:solidFill>
                  <a:srgbClr val="FFFFFF"/>
                </a:solidFill>
              </a:rPr>
              <a:t>, </a:t>
            </a:r>
            <a:r>
              <a:rPr lang="en-US" sz="1700" b="1" dirty="0" err="1">
                <a:solidFill>
                  <a:srgbClr val="FFFFFF"/>
                </a:solidFill>
              </a:rPr>
              <a:t>ít</a:t>
            </a:r>
            <a:r>
              <a:rPr lang="en-US" sz="1700" b="1" dirty="0">
                <a:solidFill>
                  <a:srgbClr val="FFFFFF"/>
                </a:solidFill>
              </a:rPr>
              <a:t> </a:t>
            </a:r>
            <a:r>
              <a:rPr lang="en-US" sz="1700" b="1" dirty="0" err="1">
                <a:solidFill>
                  <a:srgbClr val="FFFFFF"/>
                </a:solidFill>
              </a:rPr>
              <a:t>dây</a:t>
            </a:r>
            <a:r>
              <a:rPr lang="en-US" sz="1700" b="1" dirty="0">
                <a:solidFill>
                  <a:srgbClr val="FFFFFF"/>
                </a:solidFill>
              </a:rPr>
              <a:t>, dễ mô phỏng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UART và timing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7A6"/>
                </a:solidFill>
              </a:rPr>
              <a:t>Cấu hình trong mô phỏng: 8 data bits + parity + 1 stop bit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822960" cy="914400"/>
          </a:xfrm>
          <a:prstGeom prst="rect">
            <a:avLst/>
          </a:prstGeom>
          <a:solidFill>
            <a:srgbClr val="DDE9F6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Idle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45336" y="1828800"/>
            <a:ext cx="822960" cy="914400"/>
          </a:xfrm>
          <a:prstGeom prst="rect">
            <a:avLst/>
          </a:prstGeom>
          <a:solidFill>
            <a:srgbClr val="FFE5E8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Start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0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04872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LSB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72968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D1
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41064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D2
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09160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D3
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77256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D4
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5352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D5
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13448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D6
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81544" y="1828800"/>
            <a:ext cx="731520" cy="914400"/>
          </a:xfrm>
          <a:prstGeom prst="rect">
            <a:avLst/>
          </a:prstGeom>
          <a:solidFill>
            <a:srgbClr val="EAF7FF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D7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MSB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49640" y="1828800"/>
            <a:ext cx="914400" cy="914400"/>
          </a:xfrm>
          <a:prstGeom prst="rect">
            <a:avLst/>
          </a:prstGeom>
          <a:solidFill>
            <a:srgbClr val="FFF7E0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Parity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P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00616" y="1828800"/>
            <a:ext cx="822960" cy="914400"/>
          </a:xfrm>
          <a:prstGeom prst="rect">
            <a:avLst/>
          </a:prstGeom>
          <a:solidFill>
            <a:srgbClr val="E4F8ED"/>
          </a:solidFill>
          <a:ln w="15240">
            <a:solidFill>
              <a:srgbClr val="A7B8C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Stop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1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545336" y="3035808"/>
            <a:ext cx="8046720" cy="0"/>
          </a:xfrm>
          <a:prstGeom prst="line">
            <a:avLst/>
          </a:prstGeom>
          <a:noFill/>
          <a:ln w="19050">
            <a:solidFill>
              <a:srgbClr val="2E86DE"/>
            </a:solidFill>
            <a:prstDash val="solid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100584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2F"/>
                </a:solidFill>
              </a:rPr>
              <a:t>Thứ tự truyền: Start → D0 → D1 → ... → D7 → Parity → Stop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29260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Baud 9600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1 bit ≈ 104.167 µs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11 bit ≈ 1.146 ms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4297680"/>
            <a:ext cx="29260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Odd parity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Tổng số bit 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phải là số lẻ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21040" y="4297680"/>
            <a:ext cx="29260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C85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LSB first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Data 10101010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truyền: 0 1 0 1 0 1 0 1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Mã nguồn sử dụng trong đề tài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D7F0"/>
                </a:solidFill>
              </a:rPr>
              <a:t>Repo GitHub: MuhammadMajiid/UART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799" y="1229023"/>
            <a:ext cx="7078135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2000" b="1" dirty="0">
                <a:solidFill>
                  <a:srgbClr val="00C2FF"/>
                </a:solidFill>
              </a:rPr>
              <a:t>• </a:t>
            </a:r>
            <a:r>
              <a:rPr lang="en-US" sz="2000" dirty="0">
                <a:solidFill>
                  <a:srgbClr val="FFFFFF"/>
                </a:solidFill>
              </a:rPr>
              <a:t>Dùng module top: Code/Full-Body/Duplex.v
</a:t>
            </a:r>
            <a:r>
              <a:rPr lang="en-US" sz="2000" b="1" dirty="0">
                <a:solidFill>
                  <a:srgbClr val="00C2FF"/>
                </a:solidFill>
              </a:rPr>
              <a:t>• </a:t>
            </a:r>
            <a:r>
              <a:rPr lang="en-US" sz="2000" dirty="0">
                <a:solidFill>
                  <a:srgbClr val="FFFFFF"/>
                </a:solidFill>
              </a:rPr>
              <a:t>Dùng testbench: Code/Full-Body/DuplexTest.v
</a:t>
            </a:r>
            <a:r>
              <a:rPr lang="en-US" sz="2000" b="1" dirty="0">
                <a:solidFill>
                  <a:srgbClr val="00C2FF"/>
                </a:solidFill>
              </a:rPr>
              <a:t>• </a:t>
            </a:r>
            <a:r>
              <a:rPr lang="en-US" sz="2000" dirty="0">
                <a:solidFill>
                  <a:srgbClr val="FFFFFF"/>
                </a:solidFill>
              </a:rPr>
              <a:t>Khối truyền: TxUnit + BaudGenT + Parity + PISO
</a:t>
            </a:r>
            <a:r>
              <a:rPr lang="en-US" sz="2000" b="1" dirty="0">
                <a:solidFill>
                  <a:srgbClr val="00C2FF"/>
                </a:solidFill>
              </a:rPr>
              <a:t>• </a:t>
            </a:r>
            <a:r>
              <a:rPr lang="en-US" sz="2000" dirty="0">
                <a:solidFill>
                  <a:srgbClr val="FFFFFF"/>
                </a:solidFill>
              </a:rPr>
              <a:t>Khối nhận: RxUnit + BaudGenR + SIPO + DeFrame + ErrorCheck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6774" y="1228346"/>
            <a:ext cx="3591560" cy="4315968"/>
          </a:xfrm>
          <a:prstGeom prst="rect">
            <a:avLst/>
          </a:prstGeom>
          <a:solidFill>
            <a:srgbClr val="0A1020"/>
          </a:solidFill>
          <a:ln w="13970">
            <a:solidFill>
              <a:srgbClr val="1B496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799" y="4541518"/>
            <a:ext cx="6792211" cy="1219202"/>
          </a:xfrm>
          <a:prstGeom prst="rect">
            <a:avLst/>
          </a:prstGeom>
          <a:solidFill>
            <a:srgbClr val="09233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Ý tưởng mô phỏng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TX nối trực tiếp sang RX bằng dây serial nội bộ data_tx_w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B63C71-815B-4D9D-B1AA-D1054B12D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934" y="1333686"/>
            <a:ext cx="3305636" cy="4058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tổng thể: Full Duplex UART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7A6"/>
                </a:solidFill>
              </a:rPr>
              <a:t>Module Duplex nối TxUnit và RxUnit trong cùng một thiết kế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23160" y="2880360"/>
            <a:ext cx="1615440" cy="0"/>
          </a:xfrm>
          <a:prstGeom prst="line">
            <a:avLst/>
          </a:prstGeom>
          <a:noFill/>
          <a:ln w="3048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5847" y="2846832"/>
            <a:ext cx="1447953" cy="0"/>
          </a:xfrm>
          <a:prstGeom prst="line">
            <a:avLst/>
          </a:prstGeom>
          <a:noFill/>
          <a:ln w="3048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7830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data_in[7:0]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send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baud_rate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parity_type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8447" y="2054352"/>
            <a:ext cx="2057400" cy="1645920"/>
          </a:xfrm>
          <a:prstGeom prst="rect">
            <a:avLst/>
          </a:prstGeom>
          <a:solidFill>
            <a:srgbClr val="EAF7F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TxUnit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PISO + Parity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BaudGenT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43800" y="2359152"/>
            <a:ext cx="1234440" cy="914400"/>
          </a:xfrm>
          <a:prstGeom prst="rect">
            <a:avLst/>
          </a:prstGeom>
          <a:solidFill>
            <a:srgbClr val="FFF7E0"/>
          </a:solidFill>
          <a:ln w="15240">
            <a:solidFill>
              <a:srgbClr val="FFC85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data_tx_w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serial line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38360" y="2011680"/>
            <a:ext cx="2057400" cy="1645920"/>
          </a:xfrm>
          <a:prstGeom prst="rect">
            <a:avLst/>
          </a:prstGeom>
          <a:solidFill>
            <a:srgbClr val="EAF7F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RxUnit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SIPO + DeFrame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A2F"/>
                </a:solidFill>
              </a:rPr>
              <a:t>ErrorCheck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771632" y="3703319"/>
            <a:ext cx="0" cy="1105747"/>
          </a:xfrm>
          <a:prstGeom prst="line">
            <a:avLst/>
          </a:prstGeom>
          <a:noFill/>
          <a:ln w="25400">
            <a:solidFill>
              <a:srgbClr val="2E86D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73768" y="4709160"/>
            <a:ext cx="23774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6D07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data_out</a:t>
            </a:r>
            <a:r>
              <a:rPr lang="en-US" sz="1600" b="1" dirty="0">
                <a:solidFill>
                  <a:srgbClr val="071A2F"/>
                </a:solidFill>
              </a:rPr>
              <a:t>[</a:t>
            </a:r>
            <a:r>
              <a:rPr lang="en-US" sz="2000" b="1" dirty="0">
                <a:solidFill>
                  <a:srgbClr val="071A2F"/>
                </a:solidFill>
              </a:rPr>
              <a:t>7:0</a:t>
            </a:r>
            <a:r>
              <a:rPr lang="en-US" sz="1600" b="1" dirty="0">
                <a:solidFill>
                  <a:srgbClr val="071A2F"/>
                </a:solidFill>
              </a:rPr>
              <a:t>]</a:t>
            </a:r>
            <a:endParaRPr lang="en-US" sz="1600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error_flag[2:0]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71A2F"/>
                </a:solidFill>
              </a:rPr>
              <a:t>rx_done_flag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2F"/>
                </a:solidFill>
              </a:rPr>
              <a:t>Trong mô phỏng, không cần nối ra cổng vật lý FPGA: chỉ kiểm tra TX → RX trong waveform.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FDDA92A1-3853-4E72-AA5F-37B35EF4CF00}"/>
              </a:ext>
            </a:extLst>
          </p:cNvPr>
          <p:cNvSpPr/>
          <p:nvPr/>
        </p:nvSpPr>
        <p:spPr>
          <a:xfrm>
            <a:off x="8778241" y="2846832"/>
            <a:ext cx="960120" cy="0"/>
          </a:xfrm>
          <a:prstGeom prst="line">
            <a:avLst/>
          </a:prstGeom>
          <a:noFill/>
          <a:ln w="3048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UART-Tx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D7F0"/>
                </a:solidFill>
              </a:rPr>
              <a:t>Từ dữ liệu song song sang frame nối tiếp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2103119" y="2128411"/>
            <a:ext cx="1463041" cy="9079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 flipV="1">
            <a:off x="4709159" y="2137489"/>
            <a:ext cx="1740130" cy="9079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7132320" y="2137488"/>
            <a:ext cx="2377440" cy="9081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594360" y="1428670"/>
            <a:ext cx="2065711" cy="1452880"/>
          </a:xfrm>
          <a:prstGeom prst="rect">
            <a:avLst/>
          </a:prstGeom>
          <a:solidFill>
            <a:srgbClr val="102E50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data_in[7:0]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80966" y="1428670"/>
            <a:ext cx="1837112" cy="1452880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Parity.v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Tạo parity bit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9290" y="1428669"/>
            <a:ext cx="2001826" cy="1452879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PISO.v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Đóng frame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Start/Data/P/Stop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82328" y="1428670"/>
            <a:ext cx="2176272" cy="1452880"/>
          </a:xfrm>
          <a:prstGeom prst="rect">
            <a:avLst/>
          </a:prstGeom>
          <a:solidFill>
            <a:srgbClr val="102E50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data_tx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serial out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0" y="3463370"/>
            <a:ext cx="2880360" cy="822960"/>
          </a:xfrm>
          <a:prstGeom prst="rect">
            <a:avLst/>
          </a:prstGeom>
          <a:solidFill>
            <a:srgbClr val="09233F"/>
          </a:solidFill>
          <a:ln w="15240">
            <a:solidFill>
              <a:srgbClr val="FFC857"/>
            </a:solidFill>
          </a:ln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BaudGenT.v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Tạo baud_clk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2400/4800/9600/19200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4360" y="4551463"/>
            <a:ext cx="8961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solidFill>
                  <a:srgbClr val="00C2FF"/>
                </a:solidFill>
              </a:rPr>
              <a:t>• </a:t>
            </a:r>
            <a:r>
              <a:rPr lang="en-US" dirty="0">
                <a:solidFill>
                  <a:srgbClr val="FFFFFF"/>
                </a:solidFill>
              </a:rPr>
              <a:t>tx_active_flag = 1 khi đang truyền frame.
</a:t>
            </a:r>
            <a:r>
              <a:rPr lang="en-US" b="1" dirty="0">
                <a:solidFill>
                  <a:srgbClr val="00C2FF"/>
                </a:solidFill>
              </a:rPr>
              <a:t>• </a:t>
            </a:r>
            <a:r>
              <a:rPr lang="en-US" dirty="0">
                <a:solidFill>
                  <a:srgbClr val="FFFFFF"/>
                </a:solidFill>
              </a:rPr>
              <a:t>tx_done_flag = 1 khi frame đã truyền xong.
</a:t>
            </a:r>
            <a:r>
              <a:rPr lang="en-US" b="1" dirty="0">
                <a:solidFill>
                  <a:srgbClr val="00C2FF"/>
                </a:solidFill>
              </a:rPr>
              <a:t>• </a:t>
            </a:r>
            <a:r>
              <a:rPr lang="en-US" dirty="0">
                <a:solidFill>
                  <a:srgbClr val="FFFFFF"/>
                </a:solidFill>
              </a:rPr>
              <a:t>PISO là phần quan trọng nhất: chuyển parallel-input thành serial-output.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UART-Rx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D7F0"/>
                </a:solidFill>
              </a:rPr>
              <a:t>Từ serial line khôi phục lại dữ liệu 8-bit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1920240" y="2103118"/>
            <a:ext cx="1393672" cy="11493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4343399" y="2103120"/>
            <a:ext cx="1179261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6583679" y="2103120"/>
            <a:ext cx="1232863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8869680" y="2103120"/>
            <a:ext cx="1286466" cy="11492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685800" y="1554479"/>
            <a:ext cx="1447274" cy="1439325"/>
          </a:xfrm>
          <a:prstGeom prst="rect">
            <a:avLst/>
          </a:prstGeom>
          <a:solidFill>
            <a:srgbClr val="102E50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data_tx_w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1554479"/>
            <a:ext cx="1447274" cy="1439325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SIPO.v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Serial → Parallel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1554479"/>
            <a:ext cx="1447274" cy="1439325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DeFrame.v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Tách frame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1554479"/>
            <a:ext cx="1447274" cy="1439325"/>
          </a:xfrm>
          <a:prstGeom prst="rect">
            <a:avLst/>
          </a:prstGeom>
          <a:solidFill>
            <a:srgbClr val="0F355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ErrorCheck.v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Kiểm lỗi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66960" y="1554479"/>
            <a:ext cx="1554480" cy="1439325"/>
          </a:xfrm>
          <a:prstGeom prst="rect">
            <a:avLst/>
          </a:prstGeom>
          <a:solidFill>
            <a:srgbClr val="102E50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data_out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error_flag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566160"/>
            <a:ext cx="7680960" cy="1005840"/>
          </a:xfrm>
          <a:prstGeom prst="rect">
            <a:avLst/>
          </a:prstGeom>
          <a:solidFill>
            <a:srgbClr val="09233F"/>
          </a:solidFill>
          <a:ln w="15240">
            <a:solidFill>
              <a:srgbClr val="FFC85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BaudGenR.v dùng oversampling 16× baud rate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Mục tiêu: lấy mẫu gần giữa mỗi bit để nhận ổn định hơn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8503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500" b="1" dirty="0">
                <a:solidFill>
                  <a:srgbClr val="00C2FF"/>
                </a:solidFill>
              </a:rPr>
              <a:t>• </a:t>
            </a:r>
            <a:r>
              <a:rPr lang="en-US" sz="1500" dirty="0">
                <a:solidFill>
                  <a:srgbClr val="FFFFFF"/>
                </a:solidFill>
              </a:rPr>
              <a:t>rx_active_flag = 1 khi đang nhận frame.
</a:t>
            </a:r>
            <a:r>
              <a:rPr lang="en-US" sz="1500" b="1" dirty="0">
                <a:solidFill>
                  <a:srgbClr val="00C2FF"/>
                </a:solidFill>
              </a:rPr>
              <a:t>• </a:t>
            </a:r>
            <a:r>
              <a:rPr lang="en-US" sz="1500" dirty="0">
                <a:solidFill>
                  <a:srgbClr val="FFFFFF"/>
                </a:solidFill>
              </a:rPr>
              <a:t>rx_done_flag = 1 khi nhận đủ frame.
</a:t>
            </a:r>
            <a:r>
              <a:rPr lang="en-US" sz="1500" b="1" dirty="0">
                <a:solidFill>
                  <a:srgbClr val="00C2FF"/>
                </a:solidFill>
              </a:rPr>
              <a:t>• </a:t>
            </a:r>
            <a:r>
              <a:rPr lang="en-US" sz="1500" dirty="0">
                <a:solidFill>
                  <a:srgbClr val="FFFFFF"/>
                </a:solidFill>
              </a:rPr>
              <a:t>error_flag[0]/[1]/[2] tương ứng parity/start/stop error.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Cấu hình baud rate, parity và error flag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7A6"/>
                </a:solidFill>
              </a:rPr>
              <a:t>Các mã điều khiển cần giải thích khi thuyết trình waveform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2658" y="1424178"/>
            <a:ext cx="1220724" cy="425196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Tín hiệu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927098" y="1424178"/>
            <a:ext cx="672084" cy="425196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Mã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612898" y="1424178"/>
            <a:ext cx="1723644" cy="425196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Ý nghĩa trong repo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92658" y="1863090"/>
            <a:ext cx="1220724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baud_rate_tb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927098" y="1863090"/>
            <a:ext cx="672084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00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612898" y="1863090"/>
            <a:ext cx="1723644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2400 bps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92658" y="2302002"/>
            <a:ext cx="1220724" cy="425196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baud_rate_tb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927098" y="2302002"/>
            <a:ext cx="672084" cy="425196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01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612898" y="2302002"/>
            <a:ext cx="1723644" cy="425196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4800 bps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92658" y="2740914"/>
            <a:ext cx="1220724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baud_rate_tb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927098" y="2740914"/>
            <a:ext cx="672084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10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612898" y="2740914"/>
            <a:ext cx="1723644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9600 bps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92658" y="3179826"/>
            <a:ext cx="1220724" cy="425196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baud_rate_tb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1927098" y="3179826"/>
            <a:ext cx="672084" cy="425196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11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612898" y="3179826"/>
            <a:ext cx="1723644" cy="425196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19200 bps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716018" y="1424178"/>
            <a:ext cx="1403604" cy="4053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Tín hiệu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133338" y="1424178"/>
            <a:ext cx="672084" cy="4053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Mã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819138" y="1424178"/>
            <a:ext cx="1540764" cy="4053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Ý nghĩa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716018" y="1843278"/>
            <a:ext cx="140360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parity_type_tb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133338" y="1843278"/>
            <a:ext cx="67208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01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819138" y="1843278"/>
            <a:ext cx="154076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Odd parity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716018" y="2262378"/>
            <a:ext cx="1403604" cy="4053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parity_type_tb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133338" y="2262378"/>
            <a:ext cx="672084" cy="4053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10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819138" y="2262378"/>
            <a:ext cx="1540764" cy="4053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Even parity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4716018" y="2681478"/>
            <a:ext cx="140360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error_flag[0]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133338" y="2681478"/>
            <a:ext cx="67208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819138" y="2681478"/>
            <a:ext cx="154076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Parity error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716018" y="3100578"/>
            <a:ext cx="1403604" cy="4053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error_flag[1]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133338" y="3100578"/>
            <a:ext cx="672084" cy="4053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819138" y="3100578"/>
            <a:ext cx="1540764" cy="4053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Start error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4716018" y="3519678"/>
            <a:ext cx="140360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error_flag[2]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6133338" y="3519678"/>
            <a:ext cx="67208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819138" y="3519678"/>
            <a:ext cx="1540764" cy="4053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Stop error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732520" y="1906905"/>
            <a:ext cx="3205480" cy="1568958"/>
          </a:xfrm>
          <a:prstGeom prst="rect">
            <a:avLst/>
          </a:prstGeom>
          <a:solidFill>
            <a:srgbClr val="0A1020"/>
          </a:solidFill>
          <a:ln w="13970">
            <a:solidFill>
              <a:srgbClr val="1B496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lvl="1"/>
            <a:r>
              <a:rPr lang="en-US" sz="1150" dirty="0">
                <a:solidFill>
                  <a:srgbClr val="DDF4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Với clock 50 MHz: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DDF4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BaudGenT 9600 → final_value = 2604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DDF4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BaudGenR 9600 → final_value = 163</a:t>
            </a:r>
            <a:endParaRPr lang="en-US" sz="1150" dirty="0"/>
          </a:p>
          <a:p>
            <a:pPr lvl="1"/>
            <a:endParaRPr lang="en-US" sz="1150" dirty="0"/>
          </a:p>
          <a:p>
            <a:pPr lvl="1"/>
            <a:r>
              <a:rPr lang="en-US" sz="1150" dirty="0">
                <a:solidFill>
                  <a:srgbClr val="DDF4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Rx dùng 16× oversampling nên bộ đếm nhỏ hơn.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743200" y="4663440"/>
            <a:ext cx="66751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6D07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1A2F"/>
                </a:solidFill>
              </a:rPr>
              <a:t>Kết quả đúng trong mô </a:t>
            </a:r>
            <a:r>
              <a:rPr lang="en-US" sz="1900" b="1" dirty="0" err="1">
                <a:solidFill>
                  <a:srgbClr val="071A2F"/>
                </a:solidFill>
              </a:rPr>
              <a:t>phỏng</a:t>
            </a:r>
            <a:r>
              <a:rPr lang="en-US" sz="1900" b="1" dirty="0">
                <a:solidFill>
                  <a:srgbClr val="071A2F"/>
                </a:solidFill>
              </a:rPr>
              <a:t>: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71A2F"/>
                </a:solidFill>
              </a:rPr>
              <a:t>data_out_tb = data_in_tb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71A2F"/>
                </a:solidFill>
              </a:rPr>
              <a:t>error_flag_tb = 3'b000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821D8-8941-66B1-0B0C-9C35388B2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78916"/>
            <a:ext cx="8837487" cy="58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07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258543-E8AA-4CC7-BA1B-AA66E184C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1CBBDC-92CC-4C15-82D7-21012E14334D}"/>
              </a:ext>
            </a:extLst>
          </p:cNvPr>
          <p:cNvSpPr/>
          <p:nvPr/>
        </p:nvSpPr>
        <p:spPr>
          <a:xfrm>
            <a:off x="3047345" y="518067"/>
            <a:ext cx="60973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r>
              <a:rPr lang="vi-VN" sz="32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Ơ</a:t>
            </a:r>
            <a:r>
              <a:rPr lang="en-US" sz="32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ĐỒ KHỐI ĐI DÂY TRÊN VIVADO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3988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Quy trình mô phỏng trên Xilinx/Vivado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D7F0"/>
                </a:solidFill>
              </a:rPr>
              <a:t>Mục tiêu: chạy Behavioral Simulation và chụp waveform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3154680" cy="1051560"/>
          </a:xfrm>
          <a:prstGeom prst="rect">
            <a:avLst/>
          </a:prstGeom>
          <a:solidFill>
            <a:srgbClr val="09233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Tạo project RTL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Chọn Verilog, không cần constraint khi chỉ mô phỏng.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34840" y="1947672"/>
            <a:ext cx="3154680" cy="1051560"/>
          </a:xfrm>
          <a:prstGeom prst="rect">
            <a:avLst/>
          </a:prstGeom>
          <a:solidFill>
            <a:srgbClr val="09233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Add Design Sources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Duplex.v, TxUnit.v, RxUnit.v và các module con.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38160" y="1947672"/>
            <a:ext cx="3154680" cy="1051560"/>
          </a:xfrm>
          <a:prstGeom prst="rect">
            <a:avLst/>
          </a:prstGeom>
          <a:solidFill>
            <a:srgbClr val="09233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Add Simulation Source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DuplexTest.v hoặc testbench đã chỉnh.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60320" y="3543300"/>
            <a:ext cx="3154680" cy="1051560"/>
          </a:xfrm>
          <a:prstGeom prst="rect">
            <a:avLst/>
          </a:prstGeom>
          <a:solidFill>
            <a:srgbClr val="09233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Set Top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Set top simulation là DuplexTest.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3543300"/>
            <a:ext cx="3154680" cy="1051560"/>
          </a:xfrm>
          <a:prstGeom prst="rect">
            <a:avLst/>
          </a:prstGeom>
          <a:solidFill>
            <a:srgbClr val="09233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5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Run Behavioral Simulation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Zoom từng khoảng thời gian để chụp waveform.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39" y="5141383"/>
            <a:ext cx="109744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CDEFFF"/>
                </a:solidFill>
              </a:rPr>
              <a:t>Tín hiệu nên đưa lên waveform: send_tb, data_in_tb, baud_rate_tb, parity_type_tb, tx_active_flag_tb, tx_done_flag_tb, rx_active_flag_tb, rx_done_flag_tb, data_out_tb, error_flag_tb.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Cách hoạt động của testbench gốc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7A6"/>
                </a:solidFill>
              </a:rPr>
              <a:t>Lưu ý: các khối initial chạy song song, không chạy tuần tự từng dòng theo testcase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2067" y="1417320"/>
            <a:ext cx="4385734" cy="4160520"/>
          </a:xfrm>
          <a:prstGeom prst="rect">
            <a:avLst/>
          </a:prstGeom>
          <a:solidFill>
            <a:srgbClr val="0A1020"/>
          </a:solidFill>
          <a:ln w="13970">
            <a:solidFill>
              <a:srgbClr val="1B496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978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2F"/>
                </a:solidFill>
              </a:rPr>
              <a:t>Điểm quan trọng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97880" y="1874520"/>
            <a:ext cx="48463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220000"/>
              </a:lnSpc>
              <a:buNone/>
            </a:pPr>
            <a:r>
              <a:rPr lang="en-US" sz="1400" b="1" dirty="0">
                <a:solidFill>
                  <a:srgbClr val="00C2FF"/>
                </a:solidFill>
              </a:rPr>
              <a:t>• </a:t>
            </a:r>
            <a:r>
              <a:rPr lang="en-US" sz="1400" dirty="0">
                <a:solidFill>
                  <a:srgbClr val="122033"/>
                </a:solidFill>
              </a:rPr>
              <a:t>send_tb được giữ ở mức 1 từ đầu, nên TX có thể tiếp tục gửi frame mới sau khi xong frame trước.
</a:t>
            </a:r>
            <a:r>
              <a:rPr lang="en-US" sz="1400" b="1" dirty="0">
                <a:solidFill>
                  <a:srgbClr val="00C2FF"/>
                </a:solidFill>
              </a:rPr>
              <a:t>• </a:t>
            </a:r>
            <a:r>
              <a:rPr lang="en-US" sz="1400" dirty="0">
                <a:solidFill>
                  <a:srgbClr val="122033"/>
                </a:solidFill>
              </a:rPr>
              <a:t>Test NO.2 không “đợi Test NO.1 kết thúc” theo nghĩa lập trình tuần tự; nó đổi data/baud theo mốc thời gian.
</a:t>
            </a:r>
            <a:r>
              <a:rPr lang="en-US" sz="1400" b="1" dirty="0">
                <a:solidFill>
                  <a:srgbClr val="00C2FF"/>
                </a:solidFill>
              </a:rPr>
              <a:t>• </a:t>
            </a:r>
            <a:r>
              <a:rPr lang="en-US" sz="1400" dirty="0">
                <a:solidFill>
                  <a:srgbClr val="122033"/>
                </a:solidFill>
              </a:rPr>
              <a:t>Khi thuyết trình, nên chia waveform theo vùng thời gian: Testcase 1 và Testcase 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97880" y="4983480"/>
            <a:ext cx="4800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FC85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2F"/>
                </a:solidFill>
              </a:rPr>
              <a:t>Nếu muốn dễ hiểu hơn: viết lại testbench bằng task send_byte() để mỗi testcase chạy tuần tự.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0E7492-9A17-4655-B3E9-81071D69E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21" y="1525367"/>
            <a:ext cx="4116438" cy="3944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Testcase 1: baud 9600 + odd parity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7A6"/>
                </a:solidFill>
              </a:rPr>
              <a:t>Waveform: vùng đầu mô phỏng khi gửi 8'b10101010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 flipV="1">
            <a:off x="502920" y="1133856"/>
            <a:ext cx="3197014" cy="9144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1218" y="1424178"/>
            <a:ext cx="1403604" cy="41300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Thông số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018538" y="1424178"/>
            <a:ext cx="2638044" cy="41300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Giá trị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01218" y="1850898"/>
            <a:ext cx="1403604" cy="41300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data_in_tb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018538" y="1850898"/>
            <a:ext cx="2638044" cy="41300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8'b10101010 = 0xAA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01218" y="2277618"/>
            <a:ext cx="1403604" cy="41300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baud_rate_tb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018538" y="2277618"/>
            <a:ext cx="2638044" cy="41300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2'b10 = 9600 bps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01218" y="2704338"/>
            <a:ext cx="1403604" cy="41300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parity_type_tb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018538" y="2704338"/>
            <a:ext cx="2638044" cy="41300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2'b01 = odd parity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01218" y="3131058"/>
            <a:ext cx="1403604" cy="41300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Frame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018538" y="3131058"/>
            <a:ext cx="2638044" cy="41300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Start + 8 data + parity + stop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01218" y="3557778"/>
            <a:ext cx="1403604" cy="41300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Kỳ vọng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018538" y="3557778"/>
            <a:ext cx="2638044" cy="41300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data_out_tb = 10101010; error_flag = 000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983480" y="1417320"/>
            <a:ext cx="6629400" cy="3977640"/>
          </a:xfrm>
          <a:prstGeom prst="rect">
            <a:avLst/>
          </a:prstGeom>
          <a:solidFill>
            <a:srgbClr val="F8FBFF"/>
          </a:solidFill>
          <a:ln w="17780">
            <a:solidFill>
              <a:srgbClr val="A7B8C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D6E7F"/>
                </a:solidFill>
              </a:rPr>
              <a:t>Waveform Testcase 1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5D6E7F"/>
                </a:solidFill>
              </a:rPr>
              <a:t>[ Chèn ảnh waveform tại đây ]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37490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2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71A2F"/>
                </a:solidFill>
              </a:rPr>
              <a:t>Cách giải thích nhanh: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71A2F"/>
                </a:solidFill>
              </a:rPr>
              <a:t>Data 10101010 có 4 bit 1. </a:t>
            </a:r>
          </a:p>
          <a:p>
            <a:pPr marL="0" indent="0" algn="ctr">
              <a:buNone/>
            </a:pPr>
            <a:r>
              <a:rPr lang="en-US" sz="1450" b="1" dirty="0">
                <a:solidFill>
                  <a:srgbClr val="071A2F"/>
                </a:solidFill>
              </a:rPr>
              <a:t>Odd parity cần parity = 1 để tổng số bit 1 là lẻ.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74920" y="5559552"/>
            <a:ext cx="6309360" cy="566928"/>
          </a:xfrm>
          <a:prstGeom prst="rect">
            <a:avLst/>
          </a:prstGeom>
          <a:solidFill>
            <a:srgbClr val="EAF7F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71A2F"/>
                </a:solidFill>
              </a:rPr>
              <a:t>Mốc cần chú ý trên waveform: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71A2F"/>
                </a:solidFill>
              </a:rPr>
              <a:t>rx_done_flag lên 1 → data_out mới có ý nghĩa.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116C17C-A9CE-0D47-DA1D-988CE04F9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0"/>
            <a:ext cx="6627070" cy="39448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Testcase 2: baud 19200 + even parity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7A6"/>
                </a:solidFill>
              </a:rPr>
              <a:t>Waveform: vùng sau khi testbench đổi data/baud/parity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434080" cy="9144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1218" y="1305306"/>
            <a:ext cx="1586484" cy="423890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Thông số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201418" y="1305306"/>
            <a:ext cx="2592324" cy="423890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Giá trị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01218" y="1742912"/>
            <a:ext cx="1586484" cy="42389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Thời điểm đổi data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201418" y="1742912"/>
            <a:ext cx="2592324" cy="42389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#1300000 ns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01218" y="2180517"/>
            <a:ext cx="1586484" cy="423890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data_in_tb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201418" y="2180517"/>
            <a:ext cx="2592324" cy="423890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8'b1011100 → 8'b01011100 = 0x5C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01218" y="2618123"/>
            <a:ext cx="1586484" cy="42389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Thời điểm đổi baud/parity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201418" y="2618123"/>
            <a:ext cx="2592324" cy="42389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#1300000 + #90000 ns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01218" y="3055729"/>
            <a:ext cx="1586484" cy="423890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baud_rate_tb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201418" y="3055729"/>
            <a:ext cx="2592324" cy="423890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2'b11 = 19200 bps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01218" y="3493335"/>
            <a:ext cx="1586484" cy="42389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parity_type_tb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201418" y="3493335"/>
            <a:ext cx="2592324" cy="42389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2'b10 = even parity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01218" y="3930940"/>
            <a:ext cx="1586484" cy="423890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Kỳ vọng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201418" y="3930940"/>
            <a:ext cx="2592324" cy="423890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data_out_tb = 01011100; error_flag = 000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120640" y="1298448"/>
            <a:ext cx="6446520" cy="4069080"/>
          </a:xfrm>
          <a:prstGeom prst="rect">
            <a:avLst/>
          </a:prstGeom>
          <a:solidFill>
            <a:srgbClr val="F8FBFF"/>
          </a:solidFill>
          <a:ln w="17780">
            <a:solidFill>
              <a:srgbClr val="A7B8C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D6E7F"/>
                </a:solidFill>
              </a:rPr>
              <a:t>Waveform Testcase 2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5D6E7F"/>
                </a:solidFill>
              </a:rPr>
              <a:t>[ Chèn ảnh waveform tại đây ]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4800600"/>
            <a:ext cx="38862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C85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71A2F"/>
                </a:solidFill>
              </a:rPr>
              <a:t>Ghi chú: 8'b1011100 chỉ có 7 chữ số, Verilog tự thêm 0 ở bên trái thành 01011100.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5257800" y="5559552"/>
            <a:ext cx="6172200" cy="566928"/>
          </a:xfrm>
          <a:prstGeom prst="rect">
            <a:avLst/>
          </a:prstGeom>
          <a:solidFill>
            <a:srgbClr val="EAF7FF"/>
          </a:solidFill>
          <a:ln w="15240">
            <a:solidFill>
              <a:srgbClr val="2E86D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71A2F"/>
                </a:solidFill>
              </a:rPr>
              <a:t>Ở baud 19200, thời gian 1 bit ≈ 52.083 µs nên frame ngắn hơn testcase 1.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C8892CA-69F5-EF96-F52F-13255F42A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05306"/>
            <a:ext cx="64465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Đọc waveform: data_out = 11111111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D7F0"/>
                </a:solidFill>
              </a:rPr>
              <a:t>Không kết luận tại thời điểm RX chưa nhận xong frame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4800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C2FF"/>
                </a:solidFill>
              </a:rPr>
              <a:t>• </a:t>
            </a:r>
            <a:r>
              <a:rPr lang="en-US" sz="1550" dirty="0">
                <a:solidFill>
                  <a:srgbClr val="FFFFFF"/>
                </a:solidFill>
              </a:rPr>
              <a:t>data_out_tb = 11111111 thường là giá trị mặc định/reset hoặc dữ liệu cũ.
</a:t>
            </a:r>
            <a:r>
              <a:rPr lang="en-US" sz="1550" b="1" dirty="0">
                <a:solidFill>
                  <a:srgbClr val="00C2FF"/>
                </a:solidFill>
              </a:rPr>
              <a:t>• </a:t>
            </a:r>
            <a:r>
              <a:rPr lang="en-US" sz="1550" dirty="0">
                <a:solidFill>
                  <a:srgbClr val="FFFFFF"/>
                </a:solidFill>
              </a:rPr>
              <a:t>Chỉ đọc kết quả tại thời điểm rx_done_flag_tb = 1.
</a:t>
            </a:r>
            <a:r>
              <a:rPr lang="en-US" sz="1550" b="1" dirty="0">
                <a:solidFill>
                  <a:srgbClr val="00C2FF"/>
                </a:solidFill>
              </a:rPr>
              <a:t>• </a:t>
            </a:r>
            <a:r>
              <a:rPr lang="en-US" sz="1550" dirty="0">
                <a:solidFill>
                  <a:srgbClr val="FFFFFF"/>
                </a:solidFill>
              </a:rPr>
              <a:t>Nếu error_flag_tb = 000 và data_out_tb = data_in_tb thì testcase đạt.
</a:t>
            </a:r>
            <a:r>
              <a:rPr lang="en-US" sz="1550" b="1" dirty="0">
                <a:solidFill>
                  <a:srgbClr val="00C2FF"/>
                </a:solidFill>
              </a:rPr>
              <a:t>• </a:t>
            </a:r>
            <a:r>
              <a:rPr lang="en-US" sz="1550" dirty="0">
                <a:solidFill>
                  <a:srgbClr val="FFFFFF"/>
                </a:solidFill>
              </a:rPr>
              <a:t>Đường serial nội bộ là data_tx_w trong Duplex.v; mặc định waveform ngoài có thể chưa hiển thị dây này.</a:t>
            </a:r>
            <a:endParaRPr lang="en-US" sz="1550" dirty="0"/>
          </a:p>
        </p:txBody>
      </p:sp>
      <p:pic>
        <p:nvPicPr>
          <p:cNvPr id="9" name="Image 0" descr="/mnt/data/d30fea94-fda8-4e23-9228-13c61b8c8aa8.png"/>
          <p:cNvPicPr>
            <a:picLocks noChangeAspect="1"/>
          </p:cNvPicPr>
          <p:nvPr/>
        </p:nvPicPr>
        <p:blipFill>
          <a:blip r:embed="rId3"/>
          <a:srcRect l="22216" r="22216"/>
          <a:stretch/>
        </p:blipFill>
        <p:spPr>
          <a:xfrm>
            <a:off x="5806440" y="1325880"/>
            <a:ext cx="5806440" cy="3246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46451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4937760"/>
            <a:ext cx="4526280" cy="868680"/>
          </a:xfrm>
          <a:prstGeom prst="rect">
            <a:avLst/>
          </a:prstGeom>
          <a:solidFill>
            <a:srgbClr val="09233F"/>
          </a:solidFill>
          <a:ln w="15240">
            <a:solidFill>
              <a:srgbClr val="FFC85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Quy tắc thuyết trình: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Đừng nhìn data_out ở đầu mô phỏng. Hãy zoom vào cạnh rx_done_flag.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F6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 hợp kết quả mô phỏng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7A6"/>
                </a:solidFill>
              </a:rPr>
              <a:t>Bảng này dùng để điền/chốt sau khi bạn chụp waveform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8378" y="1353958"/>
            <a:ext cx="1175004" cy="5196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Testcase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927098" y="1353958"/>
            <a:ext cx="1632204" cy="5196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Data gửi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73018" y="1353958"/>
            <a:ext cx="1175004" cy="5196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Baud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61738" y="1353958"/>
            <a:ext cx="1175004" cy="5196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Parity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950458" y="1353958"/>
            <a:ext cx="3643884" cy="5196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Kết quả kỳ vọng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608058" y="1353958"/>
            <a:ext cx="1815084" cy="519684"/>
          </a:xfrm>
          <a:prstGeom prst="rect">
            <a:avLst/>
          </a:prstGeom>
          <a:solidFill>
            <a:srgbClr val="2E86DE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Trạng thái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38378" y="1887358"/>
            <a:ext cx="1175004" cy="5196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TC1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927098" y="1887358"/>
            <a:ext cx="1632204" cy="5196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0xAA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573018" y="1887358"/>
            <a:ext cx="1175004" cy="5196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9600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761738" y="1887358"/>
            <a:ext cx="1175004" cy="5196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Odd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950458" y="1887358"/>
            <a:ext cx="3643884" cy="5196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data_out = 0xAA, error = 000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608058" y="1887358"/>
            <a:ext cx="1815084" cy="5196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PASS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38378" y="2420758"/>
            <a:ext cx="1175004" cy="5196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TC2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1927098" y="2420758"/>
            <a:ext cx="1632204" cy="5196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0x5C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573018" y="2420758"/>
            <a:ext cx="1175004" cy="5196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19200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761738" y="2420758"/>
            <a:ext cx="1175004" cy="5196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Even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950458" y="2420758"/>
            <a:ext cx="3643884" cy="5196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data_out = 0x5C, error = 000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9608058" y="2420758"/>
            <a:ext cx="1815084" cy="519684"/>
          </a:xfrm>
          <a:prstGeom prst="rect">
            <a:avLst/>
          </a:prstGeom>
          <a:solidFill>
            <a:srgbClr val="EEF6FF"/>
          </a:solidFill>
          <a:ln w="7620">
            <a:solidFill>
              <a:srgbClr val="D0D8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22033"/>
                </a:solidFill>
              </a:rPr>
              <a:t>PASS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UART Verilog trên Xilinx • MuhammadMajiid/UART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6C1EB6E-3FB5-49FF-8B58-835998B99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598" y="3142256"/>
            <a:ext cx="8615702" cy="32811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0"/>
          </a:xfrm>
          <a:prstGeom prst="line">
            <a:avLst/>
          </a:prstGeom>
          <a:noFill/>
          <a:ln w="1524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080760"/>
            <a:ext cx="1920240" cy="0"/>
          </a:xfrm>
          <a:prstGeom prst="line">
            <a:avLst/>
          </a:prstGeom>
          <a:noFill/>
          <a:ln w="15240">
            <a:solidFill>
              <a:srgbClr val="2E86D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và hướng phát triển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321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D7F0"/>
                </a:solidFill>
              </a:rPr>
              <a:t>Thông điệp cuối của bài thuyết trình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8346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50292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00C2FF"/>
                </a:solidFill>
              </a:rPr>
              <a:t>• </a:t>
            </a:r>
            <a:r>
              <a:rPr lang="en-US" sz="1600" dirty="0">
                <a:solidFill>
                  <a:srgbClr val="FFFFFF"/>
                </a:solidFill>
              </a:rPr>
              <a:t>Đã mô phỏng được UART Full Duplex bằng Verilog.
</a:t>
            </a:r>
            <a:r>
              <a:rPr lang="en-US" sz="1600" b="1" dirty="0">
                <a:solidFill>
                  <a:srgbClr val="00C2FF"/>
                </a:solidFill>
              </a:rPr>
              <a:t>• </a:t>
            </a:r>
            <a:r>
              <a:rPr lang="en-US" sz="1600" dirty="0">
                <a:solidFill>
                  <a:srgbClr val="FFFFFF"/>
                </a:solidFill>
              </a:rPr>
              <a:t>Khối TX chuyển dữ liệu 8-bit song song thành frame nối tiếp.
</a:t>
            </a:r>
            <a:r>
              <a:rPr lang="en-US" sz="1600" b="1" dirty="0">
                <a:solidFill>
                  <a:srgbClr val="00C2FF"/>
                </a:solidFill>
              </a:rPr>
              <a:t>• </a:t>
            </a:r>
            <a:r>
              <a:rPr lang="en-US" sz="1600" dirty="0">
                <a:solidFill>
                  <a:srgbClr val="FFFFFF"/>
                </a:solidFill>
              </a:rPr>
              <a:t>Khối RX lấy mẫu, tách frame, kiểm tra parity/start/stop và khôi phục data_out.
</a:t>
            </a:r>
            <a:r>
              <a:rPr lang="en-US" sz="1600" b="1" dirty="0">
                <a:solidFill>
                  <a:srgbClr val="00C2FF"/>
                </a:solidFill>
              </a:rPr>
              <a:t>• </a:t>
            </a:r>
            <a:r>
              <a:rPr lang="en-US" sz="1600" dirty="0">
                <a:solidFill>
                  <a:srgbClr val="FFFFFF"/>
                </a:solidFill>
              </a:rPr>
              <a:t>Kết quả đúng khi data_out = data_in và error_flag = 000.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Nguồn chính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250649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320000"/>
              </a:lnSpc>
              <a:buNone/>
            </a:pPr>
            <a:r>
              <a:rPr lang="en-US" sz="1500" dirty="0">
                <a:solidFill>
                  <a:srgbClr val="B7D7F0"/>
                </a:solidFill>
              </a:rPr>
              <a:t>• GitHub: https://github.com/MuhammadMajiid/UART</a:t>
            </a:r>
            <a:endParaRPr lang="en-US" sz="1500" dirty="0"/>
          </a:p>
          <a:p>
            <a:pPr marL="0" indent="0">
              <a:lnSpc>
                <a:spcPct val="320000"/>
              </a:lnSpc>
              <a:buNone/>
            </a:pPr>
            <a:r>
              <a:rPr lang="en-US" sz="1500" dirty="0">
                <a:solidFill>
                  <a:srgbClr val="B7D7F0"/>
                </a:solidFill>
              </a:rPr>
              <a:t>• Code chính: Code/Full-Body/Duplex.v và DuplexTest.v</a:t>
            </a:r>
            <a:endParaRPr lang="en-US" sz="1500" dirty="0"/>
          </a:p>
          <a:p>
            <a:pPr marL="0" indent="0">
              <a:lnSpc>
                <a:spcPct val="320000"/>
              </a:lnSpc>
              <a:buNone/>
            </a:pPr>
            <a:r>
              <a:rPr lang="en-US" sz="1500" dirty="0">
                <a:solidFill>
                  <a:srgbClr val="B7D7F0"/>
                </a:solidFill>
              </a:rPr>
              <a:t>• Mô phỏng: Xilinx/Vivado Behavioral Simulation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EA3"/>
                </a:solidFill>
              </a:rPr>
              <a:t>Nguồn: MuhammadMajiid/UART GitHub repository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0" y="6446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EA3"/>
                </a:solidFill>
              </a:rPr>
              <a:t>Thiết kế &amp; Tổng hợp hệ thống số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2109</Words>
  <Application>Microsoft Office PowerPoint</Application>
  <PresentationFormat>Widescreen</PresentationFormat>
  <Paragraphs>337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Cascadia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và mô phỏng UART bằng Verilog trên Xilinx</dc:title>
  <dc:subject>UART Verilog Xilinx Simulation</dc:subject>
  <dc:creator>OpenAI</dc:creator>
  <cp:lastModifiedBy>Khanh Le</cp:lastModifiedBy>
  <cp:revision>34</cp:revision>
  <dcterms:created xsi:type="dcterms:W3CDTF">2026-06-24T14:44:34Z</dcterms:created>
  <dcterms:modified xsi:type="dcterms:W3CDTF">2026-06-25T01:52:01Z</dcterms:modified>
</cp:coreProperties>
</file>